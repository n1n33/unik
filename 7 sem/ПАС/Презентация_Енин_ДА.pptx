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7" r:id="rId5"/>
    <p:sldId id="265" r:id="rId6"/>
    <p:sldId id="259" r:id="rId7"/>
    <p:sldId id="275" r:id="rId8"/>
    <p:sldId id="263" r:id="rId9"/>
    <p:sldId id="278" r:id="rId10"/>
    <p:sldId id="279" r:id="rId11"/>
    <p:sldId id="262" r:id="rId12"/>
    <p:sldId id="274" r:id="rId13"/>
    <p:sldId id="280" r:id="rId14"/>
    <p:sldId id="267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82"/>
  </p:normalViewPr>
  <p:slideViewPr>
    <p:cSldViewPr snapToGrid="0">
      <p:cViewPr varScale="1">
        <p:scale>
          <a:sx n="104" d="100"/>
          <a:sy n="104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5E600-16D6-F4F0-71E2-D4C63B052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9A381D-5CD5-4A5F-C948-F59E0102B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7" indent="0" algn="ctr">
              <a:buNone/>
              <a:defRPr sz="2000"/>
            </a:lvl2pPr>
            <a:lvl3pPr marL="914353" indent="0" algn="ctr">
              <a:buNone/>
              <a:defRPr sz="1800"/>
            </a:lvl3pPr>
            <a:lvl4pPr marL="1371530" indent="0" algn="ctr">
              <a:buNone/>
              <a:defRPr sz="1600"/>
            </a:lvl4pPr>
            <a:lvl5pPr marL="1828706" indent="0" algn="ctr">
              <a:buNone/>
              <a:defRPr sz="1600"/>
            </a:lvl5pPr>
            <a:lvl6pPr marL="2285883" indent="0" algn="ctr">
              <a:buNone/>
              <a:defRPr sz="1600"/>
            </a:lvl6pPr>
            <a:lvl7pPr marL="2743060" indent="0" algn="ctr">
              <a:buNone/>
              <a:defRPr sz="1600"/>
            </a:lvl7pPr>
            <a:lvl8pPr marL="3200236" indent="0" algn="ctr">
              <a:buNone/>
              <a:defRPr sz="1600"/>
            </a:lvl8pPr>
            <a:lvl9pPr marL="3657413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827BB3-9DE8-1E62-9D7B-7520C703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5BB30-8003-BE69-BF7A-E3856EBB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96256-CD97-092F-8758-7F08FFF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0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1E85D-39C8-A3B7-C0D5-76AD847E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8CACB-B419-6AF0-DEC5-2124A1BB6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E5405-5262-9D87-C226-D69E56E0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EC2BC-639D-3FE2-0D1F-CBFCCAA3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D2072-3EBE-9A5A-B0C4-F93BF931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51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2EBC7-66F4-E001-0AE8-6F16B43B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B97B24-C734-1B17-25C9-71BD1013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11713D-356A-FEFE-2C8F-8BAB4EA6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E833B-9C9E-5B5F-9E8D-6F168548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37663B-0097-2C6E-5782-08F76A07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7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6BFCB-06FE-8B15-F4F1-5148B2B6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22321-F1F0-9EA3-434D-5B2C016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FF1F92-D6F3-7807-4FD0-1E064D0F2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42711C-D618-C024-0E15-86351996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F7FAE4-15B6-E063-60C6-A10543A5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54004E-DC66-FA20-598E-5A55AB7D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17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11586-C694-F5DF-16E6-DF4C5BE2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2B1F89-46DC-16AA-B853-11448151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32A422-1CC2-F041-CFFF-8407B600A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DE311F-205C-4B1D-533B-C5CFC4F32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288B0D-453A-93FD-7463-272AAA856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B387F3-04DE-A5C6-4287-37C7B98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50AF93-7DD1-6E13-D2AD-4D26791F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A5B7BF-C7E1-6765-9D26-D4E4D18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83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D83F9-A236-E40F-D7F6-1F4ABB57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ADFB08-9DC0-52E7-D215-B5B75796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2C4FF8-3D3A-9DFE-5C63-8E33D87B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DAF146-9CBD-85B9-519A-B47C97E5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29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B22DD8-884D-8422-1578-5C53F778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2C9043-F3FC-E7E5-4F9E-61A30EFA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561E09-0F5E-BFEA-E2DE-E2D0FB39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37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B40EA-BC64-A0FA-F5FD-DC12167F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8AE43-B0A6-FF17-2B58-1A128C6C2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FD3E95-96D7-2270-0C98-C6138ADD6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E388F9-F0A9-6F37-4D4D-568C4177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481ED6-8D65-72B0-8EFB-98D8117D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DCB5B4-4EE9-6829-5521-5AD0C742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1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4A98-9F45-1994-F75D-0B28794D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FFFFE4-3CD9-82C0-57C2-600876988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BA3B-9D66-2B6E-51D6-82DC42FD4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2878B9-D1D2-DFEB-5F03-C8D29BC3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EFDA18-3498-F492-A918-C638D215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B0D437-9244-4062-C2F6-A7791973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46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F681D-1DF8-CBF3-A21E-B337936A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4AF940-7152-482E-6556-3489B3CEE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9E5804-CF53-50A9-B9E4-E52F1BBF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925E0-C490-22AC-279B-331AB6B8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E3A776-81BE-A8C3-4754-81512562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03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73DB00-C15C-F9EC-CC21-E43EA0DB9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A6B20B-FBCD-184F-4C47-F10155197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17B45-E17C-8B5D-5F8C-8DCC3BA6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BACCDC-E5F7-8F1C-9C5A-4CE27B56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4B437-4D2A-3460-00C9-53E18C29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77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6298407" y="446484"/>
            <a:ext cx="5000625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 lvl="0"/>
            <a:r>
              <a:rPr lang="ru-RU" noProof="0">
                <a:sym typeface="Helvetica Light"/>
              </a:rPr>
              <a:t>Вставка рисунка</a:t>
            </a:r>
            <a:endParaRPr noProof="0">
              <a:sym typeface="Helvetica Light"/>
            </a:endParaRPr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892969" y="446484"/>
            <a:ext cx="5000625" cy="2803922"/>
          </a:xfrm>
          <a:prstGeom prst="rect">
            <a:avLst/>
          </a:prstGeom>
        </p:spPr>
        <p:txBody>
          <a:bodyPr anchor="b"/>
          <a:lstStyle>
            <a:lvl1pPr>
              <a:defRPr sz="4219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892969" y="3348633"/>
            <a:ext cx="5000625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6370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950FE-881C-8ED6-D789-6A09473D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7ED2E5-D116-8315-887B-FD76EFBE2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CF2C2D-1DE9-73B1-2ADA-E378D25A0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E7B2-EB6C-204D-B5B2-6B8A9012DAA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85D405-BC33-A30F-0BFE-6EEB92D17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DB24C-C2AE-490A-C155-9C746000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88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35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2025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Енин Дмитрий Андреевич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96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Презентация проекта по дисциплине «Проектирование аналитических систем»</a:t>
            </a:r>
          </a:p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на тему:</a:t>
            </a:r>
          </a:p>
          <a:p>
            <a:pPr marR="853439" lvl="0" indent="942975" algn="ctr">
              <a:lnSpc>
                <a:spcPct val="107000"/>
              </a:lnSpc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аналитической системы интеллектуальной обработки текстовых данных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18FCD-C684-CF4F-AF46-68A03BC8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DD104-37BF-E720-905B-A33DC507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48900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Образовательные материалы (лекции, задачи) хранятся в неструктурированном виде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Студенты и преподаватели тратят время на поиск нужной информации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 Разработать аналитическую систему для семантического поиска и контекстного извлечения знаний из образовательных материалов на основе архитектуры RAG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применение: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студентов в решении задач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Образовательные платформы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Автоматизированная генерация справочных материалов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FD32FF-BBFB-5F1F-332A-51F378C3D2B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E457D-6E90-6A6E-EAF6-F52F579F3B15}"/>
              </a:ext>
            </a:extLst>
          </p:cNvPr>
          <p:cNvSpPr txBox="1"/>
          <p:nvPr/>
        </p:nvSpPr>
        <p:spPr>
          <a:xfrm>
            <a:off x="11887199" y="6488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67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FF92-4229-7936-308B-85E144D0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F7586-6EC0-F1E3-8983-3FDDD95B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7A996-CB93-6AC3-2B19-8E6D5FCEF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849CEA-AF7E-D689-6B5E-D52DA386E73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1135A-B2DD-B861-DEC1-284331156153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6" name="Picture 4" descr="ChatGPT – Wikipedia">
            <a:extLst>
              <a:ext uri="{FF2B5EF4-FFF2-40B4-BE49-F238E27FC236}">
                <a16:creationId xmlns:a16="http://schemas.microsoft.com/office/drawing/2014/main" id="{E2A34672-26EE-4027-A9B0-F850C47EC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298" y="1865926"/>
            <a:ext cx="1071562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DeepSeek - AI Assistant – Apps bei Google Play">
            <a:extLst>
              <a:ext uri="{FF2B5EF4-FFF2-40B4-BE49-F238E27FC236}">
                <a16:creationId xmlns:a16="http://schemas.microsoft.com/office/drawing/2014/main" id="{9F5FF6FA-F396-4EA3-A6DF-C3EE7FCF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6" y="4001294"/>
            <a:ext cx="1772452" cy="177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oogle Gemini Icon | Dashboard Icons">
            <a:extLst>
              <a:ext uri="{FF2B5EF4-FFF2-40B4-BE49-F238E27FC236}">
                <a16:creationId xmlns:a16="http://schemas.microsoft.com/office/drawing/2014/main" id="{A6E4EE4A-0A37-49B1-9147-3AC332C62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05" y="1831940"/>
            <a:ext cx="1139534" cy="113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ElasticSearch | DigitalOcean Marketplace 1-Click App">
            <a:extLst>
              <a:ext uri="{FF2B5EF4-FFF2-40B4-BE49-F238E27FC236}">
                <a16:creationId xmlns:a16="http://schemas.microsoft.com/office/drawing/2014/main" id="{FD633209-C4F1-42C1-990A-7485A67FA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08" y="1662119"/>
            <a:ext cx="1479176" cy="147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27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16BC-03B4-40F7-8B21-6514B328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E1E6FC4-9C76-A6D4-C021-00EFBB649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931"/>
            <a:ext cx="57060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Competition Math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объем: ~627 KB текста (~100К+ символов)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Структура: Задачи + Решения по уровням сложности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1-5)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Язык: Английский (система поддерживает многоязычность)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Markdown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явным разделением задач и решений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BD65AD5-223A-CE3D-6937-EE288AF3D7B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51ADA-8D7F-A1DA-7065-9C3FDC09509A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97F713F5-1FF2-8FE5-13BD-5FD1A7A5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373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 dirty="0">
                <a:solidFill>
                  <a:schemeClr val="dk1"/>
                </a:solidFill>
                <a:uFillTx/>
                <a:latin typeface="Times New Roman"/>
              </a:rPr>
              <a:t>Анализ и характеристика входных данных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7B0010A7-91EE-4D06-B92B-8E8894435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524" y="297795"/>
            <a:ext cx="2243234" cy="93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6DBD24-A1AB-41E0-B0E2-562F9965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740" y="1390365"/>
            <a:ext cx="4353533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4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8267-C448-7C24-1925-E0A56724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15AA9-F243-4776-7B62-FEFF97B1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83174-7622-A79B-D1C6-AAB3F569D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4355015"/>
          </a:xfrm>
        </p:spPr>
        <p:txBody>
          <a:bodyPr>
            <a:normAutofit/>
          </a:bodyPr>
          <a:lstStyle/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1: Анализ и подготовка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2: Разработка архитектуры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3: Реализация компонентов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Тестирование и оценка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Документирование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DA4427-C7F0-9AF9-0762-C77AAACA8EF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37F43-C759-776D-14ED-2A7E454E8BDA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24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D72B-1EC2-D50F-6F64-6B0FC461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19A96-A135-0758-166D-37069C5B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DBA07A-9CCF-0BA5-EDEA-457DC43E8F9A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B39AB-222A-149E-90D6-C467C4F9DD48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37C0874-C657-4C03-B632-7B3863609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B8BD65B-4929-4F30-A141-40A9DA26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3690"/>
            <a:ext cx="7477785" cy="506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5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E5FA-1BCD-304E-188A-B6A1A35C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9081C-9E49-F777-C658-2518F45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инструментальных средств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1A93289-0308-C124-A6D9-1E217616F757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B9C88-E242-B9D0-E4FA-0981CE2FAC83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6" name="Picture 2" descr="Python (programming language) - Wikipedia">
            <a:extLst>
              <a:ext uri="{FF2B5EF4-FFF2-40B4-BE49-F238E27FC236}">
                <a16:creationId xmlns:a16="http://schemas.microsoft.com/office/drawing/2014/main" id="{7CA46FD5-0154-B085-775D-154D61FB2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06" y="2030435"/>
            <a:ext cx="1442546" cy="144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GitHub - numpy/numpy: The fundamental package for scientific computing with  Python.">
            <a:extLst>
              <a:ext uri="{FF2B5EF4-FFF2-40B4-BE49-F238E27FC236}">
                <a16:creationId xmlns:a16="http://schemas.microsoft.com/office/drawing/2014/main" id="{B5609306-7744-099B-880C-B52FFCA2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465" y="2169570"/>
            <a:ext cx="2600216" cy="116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angChain: The Future of Language Model Applications | by Sagar Bantu |  Medium">
            <a:extLst>
              <a:ext uri="{FF2B5EF4-FFF2-40B4-BE49-F238E27FC236}">
                <a16:creationId xmlns:a16="http://schemas.microsoft.com/office/drawing/2014/main" id="{A29834A4-74D3-4E31-A877-2B8B4B142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717" y="4439042"/>
            <a:ext cx="2106704" cy="11993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aiss Bewertungen 2025: Details, Preise &amp; Funktionen | G2">
            <a:extLst>
              <a:ext uri="{FF2B5EF4-FFF2-40B4-BE49-F238E27FC236}">
                <a16:creationId xmlns:a16="http://schemas.microsoft.com/office/drawing/2014/main" id="{0F69AEC4-DBA2-4DE0-8B76-D1F1C8F7E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667" y="2296322"/>
            <a:ext cx="1734804" cy="91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dirik/multilingual-e5-base | Run with an API on Replicate">
            <a:extLst>
              <a:ext uri="{FF2B5EF4-FFF2-40B4-BE49-F238E27FC236}">
                <a16:creationId xmlns:a16="http://schemas.microsoft.com/office/drawing/2014/main" id="{7A0EA86C-97EB-406C-95E2-E8E968CE0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06" y="4317464"/>
            <a:ext cx="1442546" cy="144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Qwen – Wikipedia">
            <a:extLst>
              <a:ext uri="{FF2B5EF4-FFF2-40B4-BE49-F238E27FC236}">
                <a16:creationId xmlns:a16="http://schemas.microsoft.com/office/drawing/2014/main" id="{FBD1A4F7-7DE7-43C1-AA46-2F6B534B27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683" y="4123848"/>
            <a:ext cx="1829779" cy="18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ollama (@ollama) / Posts / X">
            <a:extLst>
              <a:ext uri="{FF2B5EF4-FFF2-40B4-BE49-F238E27FC236}">
                <a16:creationId xmlns:a16="http://schemas.microsoft.com/office/drawing/2014/main" id="{09135DA1-E4EA-45E0-B4C8-C0C88BB5B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600" y="3930231"/>
            <a:ext cx="1829779" cy="18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Brand • Streamlit">
            <a:extLst>
              <a:ext uri="{FF2B5EF4-FFF2-40B4-BE49-F238E27FC236}">
                <a16:creationId xmlns:a16="http://schemas.microsoft.com/office/drawing/2014/main" id="{3C28D154-32F4-46EA-A066-BA8A29C32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314" y="1589198"/>
            <a:ext cx="3432353" cy="2008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18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A65AC-FEF2-4837-8561-A4DB1A11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загрузки документов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VectorDB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Chain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40281-FF2B-8EFB-7685-19BD3C320AC2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03F6-C6C9-0BA5-DF2A-B523B882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B8E97-4C88-FB21-28A1-E128ED43A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системы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DDFE638-C206-A6A3-036A-0A45178D875D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98D9A-DB5F-3FFA-C3BD-1DDB838B71B9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0DB868B1-377A-4523-B81B-FB94C8945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7147AC-73D3-4020-AE49-3D1762327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26" y="1348714"/>
            <a:ext cx="11225238" cy="514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0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C813-916B-D12A-B8D5-931C0F92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4CA3C-8133-530D-A863-6D15BE30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63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FDE97-703C-593D-2CDF-71C981ABA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321F3C9-6FF9-AE1B-05B6-3E5EF6DE20B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33B9F-672A-E9CA-12E1-CE6D0A920C42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F3E477-EEFB-4A50-A98D-FEF7E836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48" y="826877"/>
            <a:ext cx="6269492" cy="58076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6ECD83-01DE-4706-B13B-A083B3CD8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5" y="904376"/>
            <a:ext cx="5510823" cy="595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8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параметры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2F785-F37D-8A82-181C-45B2DCF60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6F7F06-80DB-39C4-9761-2F929E12AB1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4D66E-2E1F-200E-DA7B-866653CA28A7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2DCF7B-55FB-4909-ABBC-4E64B6AF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23" y="1726115"/>
            <a:ext cx="7911353" cy="445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ABB6-31D6-5A70-B004-3B75BF9D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815E4-C096-0859-2779-3CD27EBE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AE4103-B544-5BCA-9E30-6320E6260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799" cy="4351338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обеспечивает высокую на всех категориях;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 обрабатывает на граничных случаях;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многоязычный контекст.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288C6E-C0B3-8415-4CD2-3FD84A688D4D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D6FA0-655F-01E8-EB7F-E88AF052DA18}"/>
              </a:ext>
            </a:extLst>
          </p:cNvPr>
          <p:cNvSpPr txBox="1"/>
          <p:nvPr/>
        </p:nvSpPr>
        <p:spPr>
          <a:xfrm>
            <a:off x="11785669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4F71BE-9F1C-4B97-9DB1-30B5E5D6B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3741"/>
            <a:ext cx="4467849" cy="24768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A976A6B-017C-4F92-A3B2-C8353F440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33741"/>
            <a:ext cx="4334480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3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ABB6-31D6-5A70-B004-3B75BF9D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815E4-C096-0859-2779-3CD27EBE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Полный технологический стек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288C6E-C0B3-8415-4CD2-3FD84A688D4D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D6FA0-655F-01E8-EB7F-E88AF052DA18}"/>
              </a:ext>
            </a:extLst>
          </p:cNvPr>
          <p:cNvSpPr txBox="1"/>
          <p:nvPr/>
        </p:nvSpPr>
        <p:spPr>
          <a:xfrm>
            <a:off x="11785669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7ABE66-3C55-42A8-955C-95A14094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8613"/>
            <a:ext cx="3200847" cy="9812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A60F18-AF0E-4C69-866A-2EC08171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82" y="1598613"/>
            <a:ext cx="2581635" cy="12003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47D7FA-FFF7-420A-A571-2483008CE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952" y="1598613"/>
            <a:ext cx="2343477" cy="11431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ED48D4-A7D8-4F61-9D40-998DD4AA7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119071"/>
            <a:ext cx="2257740" cy="118126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8162F12-EA41-46F8-AAA7-AD38632DB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182" y="3119071"/>
            <a:ext cx="2124371" cy="121937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ACA5CA4-9595-41A8-93CE-DEFDE792B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952" y="3119071"/>
            <a:ext cx="2257740" cy="123842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3BDBCC0-8165-489F-8602-73B99053E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839582"/>
            <a:ext cx="1810003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4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выводы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1F7F9-BD35-5FD3-820E-83AF3D141D7C}"/>
              </a:ext>
            </a:extLst>
          </p:cNvPr>
          <p:cNvSpPr txBox="1"/>
          <p:nvPr/>
        </p:nvSpPr>
        <p:spPr>
          <a:xfrm>
            <a:off x="11775689" y="6488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506B6BDE-70DD-476E-A345-A2F46BFA7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499"/>
            <a:ext cx="3482788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prstClr val="black"/>
                </a:solidFill>
              </a:rPr>
              <a:t>Достигнутые результаты:</a:t>
            </a:r>
          </a:p>
          <a:p>
            <a:pPr marL="442913" indent="-442913">
              <a:lnSpc>
                <a:spcPct val="110000"/>
              </a:lnSpc>
            </a:pPr>
            <a:r>
              <a:rPr lang="ru-RU" sz="2400" dirty="0">
                <a:solidFill>
                  <a:prstClr val="black"/>
                </a:solidFill>
              </a:rPr>
              <a:t>Функционирующая RAG-система полного цикла  </a:t>
            </a:r>
          </a:p>
          <a:p>
            <a:pPr marL="442913" indent="-442913">
              <a:lnSpc>
                <a:spcPct val="120000"/>
              </a:lnSpc>
            </a:pPr>
            <a:r>
              <a:rPr lang="ru-RU" sz="2400" dirty="0">
                <a:solidFill>
                  <a:prstClr val="black"/>
                </a:solidFill>
              </a:rPr>
              <a:t>Высокая точность</a:t>
            </a:r>
          </a:p>
          <a:p>
            <a:pPr marL="442913" indent="-442913">
              <a:lnSpc>
                <a:spcPct val="110000"/>
              </a:lnSpc>
            </a:pPr>
            <a:r>
              <a:rPr lang="ru-RU" sz="2400" dirty="0">
                <a:solidFill>
                  <a:prstClr val="black"/>
                </a:solidFill>
              </a:rPr>
              <a:t>Локальное решение</a:t>
            </a:r>
          </a:p>
          <a:p>
            <a:pPr marL="442913" indent="-442913">
              <a:lnSpc>
                <a:spcPct val="110000"/>
              </a:lnSpc>
            </a:pPr>
            <a:r>
              <a:rPr lang="ru-RU" sz="2400" dirty="0">
                <a:solidFill>
                  <a:prstClr val="black"/>
                </a:solidFill>
              </a:rPr>
              <a:t>Расширяемая архитектура — легко добавить новые документы  </a:t>
            </a:r>
          </a:p>
          <a:p>
            <a:pPr marL="442913" indent="-442913">
              <a:lnSpc>
                <a:spcPct val="110000"/>
              </a:lnSpc>
            </a:pPr>
            <a:r>
              <a:rPr lang="ru-RU" sz="2400" dirty="0">
                <a:solidFill>
                  <a:prstClr val="black"/>
                </a:solidFill>
              </a:rPr>
              <a:t>Полная документация и примеры использования 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3C90710-718A-4CB0-A322-BC52542FA831}"/>
              </a:ext>
            </a:extLst>
          </p:cNvPr>
          <p:cNvSpPr/>
          <p:nvPr/>
        </p:nvSpPr>
        <p:spPr>
          <a:xfrm>
            <a:off x="4612340" y="1600499"/>
            <a:ext cx="3307977" cy="4133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ru-RU" sz="2200" dirty="0">
                <a:solidFill>
                  <a:prstClr val="black"/>
                </a:solidFill>
              </a:rPr>
              <a:t>Практическое применение: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prstClr val="black"/>
                </a:solidFill>
              </a:rPr>
              <a:t>Образовательные платформы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prstClr val="black"/>
                </a:solidFill>
              </a:rPr>
              <a:t>Библиотеки и архивы — умный поиск по документам  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 err="1">
                <a:solidFill>
                  <a:prstClr val="black"/>
                </a:solidFill>
              </a:rPr>
              <a:t>Enterprise</a:t>
            </a:r>
            <a:r>
              <a:rPr lang="ru-RU" sz="2200" dirty="0">
                <a:solidFill>
                  <a:prstClr val="black"/>
                </a:solidFill>
              </a:rPr>
              <a:t> решения — поиск по внутренней документации  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 err="1">
                <a:solidFill>
                  <a:prstClr val="black"/>
                </a:solidFill>
              </a:rPr>
              <a:t>Chat</a:t>
            </a:r>
            <a:r>
              <a:rPr lang="ru-RU" sz="2200" dirty="0">
                <a:solidFill>
                  <a:prstClr val="black"/>
                </a:solidFill>
              </a:rPr>
              <a:t>-боты — интеллектуальные ассистенты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FEAF888-B60F-48A1-8491-9207909B3C17}"/>
              </a:ext>
            </a:extLst>
          </p:cNvPr>
          <p:cNvSpPr/>
          <p:nvPr/>
        </p:nvSpPr>
        <p:spPr>
          <a:xfrm>
            <a:off x="8211670" y="1592544"/>
            <a:ext cx="3142129" cy="4133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ru-RU" sz="2200" dirty="0">
                <a:solidFill>
                  <a:prstClr val="black"/>
                </a:solidFill>
              </a:rPr>
              <a:t>Возможные улучшения: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 err="1">
                <a:solidFill>
                  <a:prstClr val="black"/>
                </a:solidFill>
              </a:rPr>
              <a:t>Fine-tuning</a:t>
            </a:r>
            <a:r>
              <a:rPr lang="ru-RU" sz="2200" dirty="0">
                <a:solidFill>
                  <a:prstClr val="black"/>
                </a:solidFill>
              </a:rPr>
              <a:t> </a:t>
            </a:r>
            <a:r>
              <a:rPr lang="ru-RU" sz="2200" dirty="0" err="1">
                <a:solidFill>
                  <a:prstClr val="black"/>
                </a:solidFill>
              </a:rPr>
              <a:t>Qwen</a:t>
            </a:r>
            <a:r>
              <a:rPr lang="ru-RU" sz="2200" dirty="0">
                <a:solidFill>
                  <a:prstClr val="black"/>
                </a:solidFill>
              </a:rPr>
              <a:t> на русскоязычных задачах  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prstClr val="black"/>
                </a:solidFill>
              </a:rPr>
              <a:t>Оптимизация (квантизация)  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prstClr val="black"/>
                </a:solidFill>
              </a:rPr>
              <a:t>Добавить метрики BLEU/ROUGE для оценки  </a:t>
            </a:r>
          </a:p>
          <a:p>
            <a:pPr marL="442913" lvl="0" indent="-442913" defTabSz="914353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prstClr val="black"/>
                </a:solidFill>
              </a:rPr>
              <a:t>Фильтрация результатов (классификация релевантности) </a:t>
            </a:r>
          </a:p>
        </p:txBody>
      </p:sp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7D880-DDE7-0C14-B6DE-2E4F8B9AF3DA}"/>
              </a:ext>
            </a:extLst>
          </p:cNvPr>
          <p:cNvSpPr txBox="1"/>
          <p:nvPr/>
        </p:nvSpPr>
        <p:spPr>
          <a:xfrm>
            <a:off x="11775689" y="6488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theme/theme1.xml><?xml version="1.0" encoding="utf-8"?>
<a:theme xmlns:a="http://schemas.openxmlformats.org/drawingml/2006/main" name="ПМ_с_Лого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М_с_Лого" id="{F7516732-D8D0-9043-8243-A8BD8BF1D468}" vid="{04A2C018-727A-A440-935C-C8323FA330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ПМ_с_Лого</Template>
  <TotalTime>464</TotalTime>
  <Words>356</Words>
  <Application>Microsoft Office PowerPoint</Application>
  <PresentationFormat>Широкоэкранный</PresentationFormat>
  <Paragraphs>85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Times New Roman</vt:lpstr>
      <vt:lpstr>ПМ_с_Лого</vt:lpstr>
      <vt:lpstr>Презентация PowerPoint</vt:lpstr>
      <vt:lpstr>Характеристика предметной области</vt:lpstr>
      <vt:lpstr>Обзор существующих решений</vt:lpstr>
      <vt:lpstr>Анализ и характеристика входных данных</vt:lpstr>
      <vt:lpstr>Описание этапов</vt:lpstr>
      <vt:lpstr>Архитектура системы</vt:lpstr>
      <vt:lpstr>Обоснование выбора инструментальных средств</vt:lpstr>
      <vt:lpstr>Описание реализации</vt:lpstr>
      <vt:lpstr>Демонстрация работы системы</vt:lpstr>
      <vt:lpstr>Демонстрация работы системы</vt:lpstr>
      <vt:lpstr>Ключевые параметры системы</vt:lpstr>
      <vt:lpstr>Анализ полученных результатов</vt:lpstr>
      <vt:lpstr>Полный технологический стек</vt:lpstr>
      <vt:lpstr>Итоги и выводы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Дима Енин</cp:lastModifiedBy>
  <cp:revision>31</cp:revision>
  <dcterms:created xsi:type="dcterms:W3CDTF">2025-04-21T14:08:12Z</dcterms:created>
  <dcterms:modified xsi:type="dcterms:W3CDTF">2025-12-18T21:30:18Z</dcterms:modified>
</cp:coreProperties>
</file>